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62B52"/>
          </a:solidFill>
          <a:ln w="12700">
            <a:solidFill>
              <a:srgbClr val="162B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0"/>
            <a:ext cx="2834640" cy="3108960"/>
          </a:xfrm>
          <a:prstGeom prst="rect">
            <a:avLst/>
          </a:prstGeom>
          <a:solidFill>
            <a:srgbClr val="0C0C0C"/>
          </a:solidFill>
          <a:ln w="1905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005840"/>
            <a:ext cx="128016" cy="12801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005840"/>
            <a:ext cx="128016" cy="12801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" y="1005840"/>
            <a:ext cx="128016" cy="12801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926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cmd.exe — Invite de commandes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74320" y="1207008"/>
            <a:ext cx="283464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43584"/>
            <a:ext cx="2560320" cy="460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C:\Users\Babacar&gt;_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1703832"/>
            <a:ext cx="2560320" cy="460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Microsoft Windows [v10.0.19045]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11480" y="2164080"/>
            <a:ext cx="2560320" cy="460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(c) Microsoft Corporation.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11480" y="2624328"/>
            <a:ext cx="2560320" cy="460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11480" y="3084576"/>
            <a:ext cx="2560320" cy="460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C:\&gt;net user Babacar /add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11480" y="3544824"/>
            <a:ext cx="2560320" cy="460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Commande terminée correctement.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749040" y="91440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INVITE DE COMMANDES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749040" y="155448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WINDOWS (CMD)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3749040" y="2212848"/>
            <a:ext cx="5120640" cy="36576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2331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Commandes de base  •  Utilisateurs &amp; Groupes  •  Attributs de fichiers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49040" y="27889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Filière : Génie Logiciel  |  Année 2025–2026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49040" y="4114800"/>
            <a:ext cx="1600200" cy="640080"/>
          </a:xfrm>
          <a:prstGeom prst="rect">
            <a:avLst/>
          </a:prstGeom>
          <a:solidFill>
            <a:srgbClr val="1A3A6A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411480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🖥  Commandes de base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0" y="4114800"/>
            <a:ext cx="1600200" cy="640080"/>
          </a:xfrm>
          <a:prstGeom prst="rect">
            <a:avLst/>
          </a:prstGeom>
          <a:solidFill>
            <a:srgbClr val="1A3A6A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411480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👤  Utilisateurs &amp; Groupes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23760" y="4114800"/>
            <a:ext cx="1600200" cy="640080"/>
          </a:xfrm>
          <a:prstGeom prst="rect">
            <a:avLst/>
          </a:prstGeom>
          <a:solidFill>
            <a:srgbClr val="1A3A6A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411480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📁  Attributs (ATTRIB)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SOMMAIRE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0292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932688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18872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de CMD, avantages, syntaxe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49047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19072"/>
            <a:ext cx="50292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1737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Commandes de base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1993392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Navigation, fichiers, dossiers, système, redirections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295144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523744"/>
            <a:ext cx="50292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23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III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2542032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Gestion des utilisateurs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798064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user, net localgroup, sessions, groupes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099816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328416"/>
            <a:ext cx="50292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28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IV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3346704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Attributs de fichiers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3602736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attrib, R H S A — lecture, modification, cas pratiques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904488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133088"/>
            <a:ext cx="50292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133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7280" y="4151376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4407408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et perspectives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I. INTRODUCTION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797"/>
                </a:solidFill>
              </a:rPr>
              <a:t>Qu'est-ce que CMD 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cmd.exe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 l'interpréteur de commandes natif de Windows. Héritier du MS-DOS, il permet d'interagir directement avec le système via des instructions textuelles, sans interface graphique.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797"/>
                </a:solidFill>
              </a:rPr>
              <a:t>Avantages clés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via scripts .bat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sans interface graphique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Exécution rapide d'opérations complexes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fine des droits et attributs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713232"/>
            <a:ext cx="4114800" cy="1828800"/>
          </a:xfrm>
          <a:prstGeom prst="rect">
            <a:avLst/>
          </a:prstGeom>
          <a:solidFill>
            <a:srgbClr val="0C0C0C"/>
          </a:solidFill>
          <a:ln w="1905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804672"/>
            <a:ext cx="128016" cy="12801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93208" y="804672"/>
            <a:ext cx="128016" cy="12801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94376" y="804672"/>
            <a:ext cx="128016" cy="12801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76809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cmd.exe — Invite de commandes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1148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042416"/>
            <a:ext cx="384048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Microsoft Windows [version 10.0.19045.4291]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892040" y="1412748"/>
            <a:ext cx="384048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(c) Microsoft Corporation. Tous droits réservés.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892040" y="1783080"/>
            <a:ext cx="384048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892040" y="2153412"/>
            <a:ext cx="384048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C:\Users\Babacar&gt;_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754880" y="2743200"/>
            <a:ext cx="1280160" cy="10972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278892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754880" y="33832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Parties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72200" y="2743200"/>
            <a:ext cx="1280160" cy="10972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72200" y="278892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40+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172200" y="33832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Commandes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589520" y="2743200"/>
            <a:ext cx="1280160" cy="10972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589520" y="278892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100%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589520" y="33832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Windows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II.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2103120" y="9144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COMMANDES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BASE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890AA"/>
                </a:solidFill>
              </a:rPr>
              <a:t>Navigation  •  Fichiers  •  Dossiers  •  Système  •  Redirections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4114800" cy="1645920"/>
          </a:xfrm>
          <a:prstGeom prst="rect">
            <a:avLst/>
          </a:prstGeom>
          <a:solidFill>
            <a:srgbClr val="0C0C0C"/>
          </a:solidFill>
          <a:ln w="1905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3200400"/>
            <a:ext cx="128016" cy="12801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3200400"/>
            <a:ext cx="128016" cy="12801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3200400"/>
            <a:ext cx="128016" cy="12801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16382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cmd.exe — Invite de commandes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57200" y="3401568"/>
            <a:ext cx="41148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438144"/>
            <a:ext cx="384048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C:\Users\Babacar&gt;dir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94360" y="3762756"/>
            <a:ext cx="384048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25/03/2026  08:15   &lt;REP&gt;   Documents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94360" y="4087368"/>
            <a:ext cx="384048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25/03/2026  14:22   4 286   rapport.docx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94360" y="4411980"/>
            <a:ext cx="384048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1 fichier(s)  4 286 octets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754880" y="3108960"/>
            <a:ext cx="3931920" cy="1645920"/>
          </a:xfrm>
          <a:prstGeom prst="rect">
            <a:avLst/>
          </a:prstGeom>
          <a:solidFill>
            <a:srgbClr val="0C0C0C"/>
          </a:solidFill>
          <a:ln w="1905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92040" y="3200400"/>
            <a:ext cx="128016" cy="12801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93208" y="3200400"/>
            <a:ext cx="128016" cy="12801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94376" y="3200400"/>
            <a:ext cx="128016" cy="12801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3163824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cmd.exe — Invite de commandes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754880" y="3401568"/>
            <a:ext cx="393192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438144"/>
            <a:ext cx="365760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C:\&gt;ping google.com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892040" y="3870960"/>
            <a:ext cx="365760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Réponse de 142.250.185.46 : temps=17ms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892040" y="4303776"/>
            <a:ext cx="365760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Paquets : envoyés=4, reçus=4, perdus=0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5797"/>
          </a:solidFill>
          <a:ln w="12700">
            <a:solidFill>
              <a:srgbClr val="2E57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II.1 — Navigation &amp; Affichage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85800"/>
          <a:ext cx="41148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Commande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Rôle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cd C:\dossier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Aller dans un répertoire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cd ..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Remonter au parent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Lister les fichiers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dir /a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Inclure fichiers cachés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dir /s *.txt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Rechercher récursivement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tree /f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Arborescence complète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709160" y="685800"/>
            <a:ext cx="4114800" cy="4114800"/>
          </a:xfrm>
          <a:prstGeom prst="rect">
            <a:avLst/>
          </a:prstGeom>
          <a:solidFill>
            <a:srgbClr val="0C0C0C"/>
          </a:solidFill>
          <a:ln w="1905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846320" y="777240"/>
            <a:ext cx="128016" cy="12801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47488" y="777240"/>
            <a:ext cx="128016" cy="12801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248656" y="777240"/>
            <a:ext cx="128016" cy="12801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49240" y="74066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cmd.exe — Invite de commandes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4709160" y="978408"/>
            <a:ext cx="41148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46320" y="1014984"/>
            <a:ext cx="3840480" cy="3767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C:\&gt;cd C:\Users\Babacar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846320" y="1391717"/>
            <a:ext cx="3840480" cy="3767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C:\Users\Babacar&gt;dir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846320" y="1768450"/>
            <a:ext cx="3840480" cy="3767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Répertoire de C:\Users\Babacar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4846320" y="2145182"/>
            <a:ext cx="3840480" cy="3767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4846320" y="2521915"/>
            <a:ext cx="3840480" cy="3767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25/03/2026  08:15  &lt;REP&gt;  Bureau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4846320" y="2898648"/>
            <a:ext cx="3840480" cy="3767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25/03/2026  10:00  &lt;REP&gt;  Documents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846320" y="3275381"/>
            <a:ext cx="3840480" cy="3767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24/03/2026  14:22   4286  rapport.docx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4846320" y="3652114"/>
            <a:ext cx="3840480" cy="3767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24/03/2026  16:05   1024  notes.txt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846320" y="4028846"/>
            <a:ext cx="3840480" cy="3767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2 fichier(s)  5 310 octets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846320" y="4405579"/>
            <a:ext cx="3840480" cy="3767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5 Rép(s)  45 287 104 512 oct. libres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5797"/>
          </a:solidFill>
          <a:ln w="12700">
            <a:solidFill>
              <a:srgbClr val="2E57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II.2 — Gestion des Fichiers &amp; Dossiers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2651760" cy="1280160"/>
          </a:xfrm>
          <a:prstGeom prst="rect">
            <a:avLst/>
          </a:prstGeom>
          <a:solidFill>
            <a:srgbClr val="1F6B8A"/>
          </a:solidFill>
          <a:ln w="12700">
            <a:solidFill>
              <a:srgbClr val="1F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80467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src dest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75488" y="130759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 un fichier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0" y="713232"/>
            <a:ext cx="2651760" cy="1280160"/>
          </a:xfrm>
          <a:prstGeom prst="rect">
            <a:avLst/>
          </a:prstGeom>
          <a:solidFill>
            <a:srgbClr val="1F6B8A"/>
          </a:solidFill>
          <a:ln w="12700">
            <a:solidFill>
              <a:srgbClr val="1F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10128" y="80467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 src dest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10128" y="130759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Déplacer / Renommer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35040" y="713232"/>
            <a:ext cx="2651760" cy="1280160"/>
          </a:xfrm>
          <a:prstGeom prst="rect">
            <a:avLst/>
          </a:prstGeom>
          <a:solidFill>
            <a:srgbClr val="8A1F1F"/>
          </a:solidFill>
          <a:ln w="12700">
            <a:solidFill>
              <a:srgbClr val="8A1F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44768" y="80467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/f /q *.tmp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44768" y="130759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sans confirmation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130552"/>
            <a:ext cx="2651760" cy="1280160"/>
          </a:xfrm>
          <a:prstGeom prst="rect">
            <a:avLst/>
          </a:prstGeom>
          <a:solidFill>
            <a:srgbClr val="1F6B8A"/>
          </a:solidFill>
          <a:ln w="12700">
            <a:solidFill>
              <a:srgbClr val="1F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" y="222199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fichier.txt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" y="272491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le contenu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0" y="2130552"/>
            <a:ext cx="2651760" cy="1280160"/>
          </a:xfrm>
          <a:prstGeom prst="rect">
            <a:avLst/>
          </a:prstGeom>
          <a:solidFill>
            <a:srgbClr val="1F6B8A"/>
          </a:solidFill>
          <a:ln w="12700">
            <a:solidFill>
              <a:srgbClr val="1F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10128" y="222199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texte &gt; f.txt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10128" y="272491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dans un fichier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35040" y="2130552"/>
            <a:ext cx="2651760" cy="1280160"/>
          </a:xfrm>
          <a:prstGeom prst="rect">
            <a:avLst/>
          </a:prstGeom>
          <a:solidFill>
            <a:srgbClr val="1F5A2F"/>
          </a:solidFill>
          <a:ln w="12700">
            <a:solidFill>
              <a:srgbClr val="1F5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44768" y="222199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"mot" f.txt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44768" y="272491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Rechercher une chaîne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547872"/>
            <a:ext cx="2651760" cy="1280160"/>
          </a:xfrm>
          <a:prstGeom prst="rect">
            <a:avLst/>
          </a:prstGeom>
          <a:solidFill>
            <a:srgbClr val="1F5A2F"/>
          </a:solidFill>
          <a:ln w="12700">
            <a:solidFill>
              <a:srgbClr val="1F5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" y="363931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MonDossier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" y="414223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dossier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3547872"/>
            <a:ext cx="2651760" cy="1280160"/>
          </a:xfrm>
          <a:prstGeom prst="rect">
            <a:avLst/>
          </a:prstGeom>
          <a:solidFill>
            <a:srgbClr val="8A1F1F"/>
          </a:solidFill>
          <a:ln w="12700">
            <a:solidFill>
              <a:srgbClr val="8A1F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10128" y="363931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rmdir /s /q doss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10128" y="414223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dossier + contenu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35040" y="3547872"/>
            <a:ext cx="2651760" cy="1280160"/>
          </a:xfrm>
          <a:prstGeom prst="rect">
            <a:avLst/>
          </a:prstGeom>
          <a:solidFill>
            <a:srgbClr val="1F5A2F"/>
          </a:solidFill>
          <a:ln w="12700">
            <a:solidFill>
              <a:srgbClr val="1F5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144768" y="363931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xcopy src dest /s /e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44768" y="414223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récursive dossiers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5797"/>
          </a:solidFill>
          <a:ln w="12700">
            <a:solidFill>
              <a:srgbClr val="2E57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II.3 — Commandes Système &amp; Réseau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85800"/>
          <a:ext cx="4114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Commande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6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ver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</a:rPr>
                        <a:t>Version de Windows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6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hostname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</a:rPr>
                        <a:t>Nom de la machine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6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systeminfo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</a:rPr>
                        <a:t>Infos système complètes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6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ipconfig /all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</a:rPr>
                        <a:t>Config réseau détaillée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6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ping google.com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</a:rPr>
                        <a:t>Test de connectivité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6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tasklist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</a:rPr>
                        <a:t>Processus en cours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6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taskkill /pid X /f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</a:rPr>
                        <a:t>Arrêter un processus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6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chkdsk C: /f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</a:rPr>
                        <a:t>Vérifier le disque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6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sfc /scannow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</a:rPr>
                        <a:t>Réparer fichiers système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6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shutdown /s /t 60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</a:rPr>
                        <a:t>Éteindre dans 60 sec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709160" y="685800"/>
            <a:ext cx="4114800" cy="4206240"/>
          </a:xfrm>
          <a:prstGeom prst="rect">
            <a:avLst/>
          </a:prstGeom>
          <a:solidFill>
            <a:srgbClr val="0C0C0C"/>
          </a:solidFill>
          <a:ln w="1905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846320" y="777240"/>
            <a:ext cx="128016" cy="12801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47488" y="777240"/>
            <a:ext cx="128016" cy="12801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248656" y="777240"/>
            <a:ext cx="128016" cy="12801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49240" y="74066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cmd.exe — Invite de commandes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4709160" y="978408"/>
            <a:ext cx="41148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46320" y="1014984"/>
            <a:ext cx="3840480" cy="350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C:\&gt;ipconfig /all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846320" y="1365781"/>
            <a:ext cx="3840480" cy="350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Carte Ethernet :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846320" y="1716578"/>
            <a:ext cx="3840480" cy="350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Adresse IPv4. . : 192.168.1.105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4846320" y="2067375"/>
            <a:ext cx="3840480" cy="350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Masque. . . . . : 255.255.255.0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4846320" y="2418172"/>
            <a:ext cx="3840480" cy="350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Passerelle. . . : 192.168.1.1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4846320" y="2768969"/>
            <a:ext cx="3840480" cy="350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Serveur DNS. . .: 8.8.8.8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846320" y="3119767"/>
            <a:ext cx="3840480" cy="350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4846320" y="3470564"/>
            <a:ext cx="3840480" cy="350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C:\&gt;ping google.com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846320" y="3821361"/>
            <a:ext cx="3840480" cy="350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Réponse de 142.250.185.46 : temps=17ms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846320" y="4172158"/>
            <a:ext cx="3840480" cy="350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Réponse de 142.250.185.46 : temps=18ms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4846320" y="4522955"/>
            <a:ext cx="3840480" cy="350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Paquets: envoyés=4, reçus=4, perdus=0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5797"/>
          </a:solidFill>
          <a:ln w="12700">
            <a:solidFill>
              <a:srgbClr val="2E57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II.4 — Redirections &amp; Pipes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640080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13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74980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Redirige vers fichier (écrase)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1042416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 &gt; liste.txt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517904"/>
            <a:ext cx="640080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179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155448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Ajoute à un fichier existant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1847088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ligne &gt;&gt; f.txt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640080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225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235915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 : sortie vers commande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34440" y="2651760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 | find ".txt"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127248"/>
            <a:ext cx="640080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27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316382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Entrée depuis un fichier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34440" y="3456432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 &lt; noms.txt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640080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2&gt;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396849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Redirige les erreurs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34440" y="4261104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2&gt; erreurs.txt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685800"/>
            <a:ext cx="4114800" cy="4206240"/>
          </a:xfrm>
          <a:prstGeom prst="rect">
            <a:avLst/>
          </a:prstGeom>
          <a:solidFill>
            <a:srgbClr val="0C0C0C"/>
          </a:solidFill>
          <a:ln w="1905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777240"/>
            <a:ext cx="128016" cy="12801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47488" y="777240"/>
            <a:ext cx="128016" cy="12801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48656" y="777240"/>
            <a:ext cx="128016" cy="12801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9240" y="74066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cmd.exe — Invite de commandes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709160" y="978408"/>
            <a:ext cx="41148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014984"/>
            <a:ext cx="3840480" cy="350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C:\Users\Babacar&gt;dir &gt; liste.txt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846320" y="1365781"/>
            <a:ext cx="3840480" cy="350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(sortie redirigée — aucun affichage)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846320" y="1716578"/>
            <a:ext cx="3840480" cy="350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846320" y="2067375"/>
            <a:ext cx="3840480" cy="350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C:\Users\Babacar&gt;type liste.txt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846320" y="2418172"/>
            <a:ext cx="3840480" cy="350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Répertoire de C:\Users\Babacar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846320" y="2768969"/>
            <a:ext cx="3840480" cy="350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24/03/2026  1024  notes.txt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846320" y="3119767"/>
            <a:ext cx="3840480" cy="350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24/03/2026  4286  rapport.docx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846320" y="3470564"/>
            <a:ext cx="3840480" cy="350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846320" y="3821361"/>
            <a:ext cx="3840480" cy="350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C:\&gt;dir | find ".txt"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846320" y="4172158"/>
            <a:ext cx="3840480" cy="350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24/03/2026  1024  notes.txt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846320" y="4522955"/>
            <a:ext cx="3840480" cy="350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24/03/2026   256  readme.txt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CC66"/>
          </a:solidFill>
          <a:ln w="12700">
            <a:solidFill>
              <a:srgbClr val="00CC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0CC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III.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2103120" y="73152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GESTION DES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UTILISATEURS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GROUPES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890AA"/>
                </a:solidFill>
              </a:rPr>
              <a:t>net user  •  net localgroup  •  whoami  •  query user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8229600" cy="1554480"/>
          </a:xfrm>
          <a:prstGeom prst="rect">
            <a:avLst/>
          </a:prstGeom>
          <a:solidFill>
            <a:srgbClr val="0C0C0C"/>
          </a:solidFill>
          <a:ln w="1905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3474720"/>
            <a:ext cx="128016" cy="12801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3474720"/>
            <a:ext cx="128016" cy="12801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3474720"/>
            <a:ext cx="128016" cy="12801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43814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cmd.exe — Invite de commandes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57200" y="3675888"/>
            <a:ext cx="82296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712464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C:\&gt;net user Babacar Passe@123 /add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94360" y="3913632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Commande terminée correctement.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94360" y="411480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C:\&gt;net localgroup Developers Babacar /add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94360" y="4315968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Commande terminée correctement.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94360" y="4517136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C:\&gt;whoami /groups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94360" y="4718304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PC-BABACAR-GL\Developers  [S-1-5-21-...]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A55"/>
          </a:solidFill>
          <a:ln w="12700">
            <a:solidFill>
              <a:srgbClr val="00AA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III.1 — Gestion des Utilisateurs : net user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85800"/>
          <a:ext cx="4114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Commande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Effet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4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net user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</a:rPr>
                        <a:t>Lister tous les comptes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4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net user &lt;nom&gt;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</a:rPr>
                        <a:t>Détail d'un utilisateur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4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net user &lt;nom&gt; &lt;mdp&gt; /add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</a:rPr>
                        <a:t>Créer un utilisateur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4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net user &lt;nom&gt; /delete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</a:rPr>
                        <a:t>Supprimer un compte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4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net user &lt;nom&gt; /active:no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</a:rPr>
                        <a:t>Désactiver le compte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4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net user &lt;nom&gt; /active:yes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</a:rPr>
                        <a:t>Réactiver le compte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4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net user &lt;nom&gt; /fullname:"X"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</a:rPr>
                        <a:t>Nom complet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4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net user &lt;nom&gt; /logonpasswordchg:yes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</a:rPr>
                        <a:t>Forcer changement MDP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4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net user &lt;nom&gt; /times:L-V,8-17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</a:rPr>
                        <a:t>Horaires de connexion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4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net user &lt;nom&gt; /passwordreq:yes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</a:rPr>
                        <a:t>MDP obligatoire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709160" y="685800"/>
            <a:ext cx="4114800" cy="4206240"/>
          </a:xfrm>
          <a:prstGeom prst="rect">
            <a:avLst/>
          </a:prstGeom>
          <a:solidFill>
            <a:srgbClr val="0C0C0C"/>
          </a:solidFill>
          <a:ln w="1905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846320" y="777240"/>
            <a:ext cx="128016" cy="12801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47488" y="777240"/>
            <a:ext cx="128016" cy="12801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248656" y="777240"/>
            <a:ext cx="128016" cy="12801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49240" y="74066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cmd.exe — Invite de commandes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4709160" y="978408"/>
            <a:ext cx="41148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46320" y="1014984"/>
            <a:ext cx="3840480" cy="2756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C:\&gt;net user Babacar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846320" y="1290610"/>
            <a:ext cx="3840480" cy="2756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 d'utilisateur     Babacar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846320" y="1566237"/>
            <a:ext cx="3840480" cy="2756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 complet           Babacar DIOP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4846320" y="1841863"/>
            <a:ext cx="3840480" cy="2756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Compte actif          Oui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4846320" y="2117489"/>
            <a:ext cx="3840480" cy="2756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Dernière ouverture    25/03/2026 07:45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4846320" y="2393115"/>
            <a:ext cx="3840480" cy="2756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compte expire      Jamais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846320" y="2668742"/>
            <a:ext cx="3840480" cy="2756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MDP requis            Oui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4846320" y="2944368"/>
            <a:ext cx="3840480" cy="2756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Groupes locaux   *Users  *Developers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846320" y="3219994"/>
            <a:ext cx="3840480" cy="2756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Commande terminée correctement.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846320" y="3495621"/>
            <a:ext cx="3840480" cy="2756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4846320" y="3771247"/>
            <a:ext cx="3840480" cy="2756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C:\&gt;net user Babacar /active:no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4846320" y="4046873"/>
            <a:ext cx="3840480" cy="2756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Commande terminée correctement.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4846320" y="4322499"/>
            <a:ext cx="3840480" cy="2756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(tentative connexion → compte désactivé)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4846320" y="4598126"/>
            <a:ext cx="3840480" cy="2756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Votre compte a été désactivé.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A55"/>
          </a:solidFill>
          <a:ln w="12700">
            <a:solidFill>
              <a:srgbClr val="00AA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III.2 — Gestion des Groupes : net localgroup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85800"/>
          <a:ext cx="41148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Commande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Effet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4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net localgroup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</a:rPr>
                        <a:t>Lister tous les groupes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4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net localgroup &lt;gr&gt;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</a:rPr>
                        <a:t>Membres du groupe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4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net localgroup &lt;gr&gt; /add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</a:rPr>
                        <a:t>Créer un groupe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4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net localgroup &lt;gr&gt; /delete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</a:rPr>
                        <a:t>Supprimer un groupe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4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net localgroup &lt;gr&gt; &lt;user&gt; /add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</a:rPr>
                        <a:t>Ajouter un utilisateur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4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net localgroup &lt;gr&gt; &lt;user&gt; /delete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</a:rPr>
                        <a:t>Retirer un utilisateur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1272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797"/>
                </a:solidFill>
              </a:rPr>
              <a:t>Groupes Windows prédéfinis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342900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</a:rPr>
              <a:t>Administrators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</a:rPr>
              <a:t>Users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</a:rPr>
              <a:t>Guests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</a:rPr>
              <a:t>Backup Operators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</a:rPr>
              <a:t>Remote Desktop Users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709160" y="685800"/>
            <a:ext cx="4114800" cy="4206240"/>
          </a:xfrm>
          <a:prstGeom prst="rect">
            <a:avLst/>
          </a:prstGeom>
          <a:solidFill>
            <a:srgbClr val="0C0C0C"/>
          </a:solidFill>
          <a:ln w="1905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846320" y="777240"/>
            <a:ext cx="128016" cy="12801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47488" y="777240"/>
            <a:ext cx="128016" cy="12801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248656" y="777240"/>
            <a:ext cx="128016" cy="12801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49240" y="74066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cmd.exe — Invite de commandes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4709160" y="978408"/>
            <a:ext cx="41148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0" y="1014984"/>
            <a:ext cx="3840480" cy="2968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C:\&gt;net localgroup Developers /add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4846320" y="1311812"/>
            <a:ext cx="3840480" cy="2968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Commande terminée correctement.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4846320" y="1608641"/>
            <a:ext cx="3840480" cy="2968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4846320" y="1905469"/>
            <a:ext cx="3840480" cy="2968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C:\&gt;net localgroup Developers Babacar /add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846320" y="2202297"/>
            <a:ext cx="3840480" cy="2968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Commande terminée correctement.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4846320" y="2499126"/>
            <a:ext cx="3840480" cy="2968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846320" y="2795954"/>
            <a:ext cx="3840480" cy="2968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C:\&gt;net localgroup Developers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846320" y="3092782"/>
            <a:ext cx="3840480" cy="2968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         Developers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4846320" y="3389610"/>
            <a:ext cx="3840480" cy="2968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Membres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4846320" y="3686439"/>
            <a:ext cx="3840480" cy="2968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4846320" y="3983267"/>
            <a:ext cx="3840480" cy="2968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Babacar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4846320" y="4280095"/>
            <a:ext cx="3840480" cy="2968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Marie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4846320" y="4576924"/>
            <a:ext cx="3840480" cy="2968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Commande terminée correctement.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A55"/>
          </a:solidFill>
          <a:ln w="12700">
            <a:solidFill>
              <a:srgbClr val="00AA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III.3 — Sessions &amp; Connexions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4114800" cy="1280160"/>
          </a:xfrm>
          <a:prstGeom prst="rect">
            <a:avLst/>
          </a:prstGeom>
          <a:solidFill>
            <a:srgbClr val="1F5A2F"/>
          </a:solidFill>
          <a:ln w="12700">
            <a:solidFill>
              <a:srgbClr val="1F5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80467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whoami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" y="1170432"/>
            <a:ext cx="3886200" cy="0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243584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pc-babacar-gl\babacar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713232"/>
            <a:ext cx="4114800" cy="1280160"/>
          </a:xfrm>
          <a:prstGeom prst="rect">
            <a:avLst/>
          </a:prstGeom>
          <a:solidFill>
            <a:srgbClr val="1F5A2F"/>
          </a:solidFill>
          <a:ln w="12700">
            <a:solidFill>
              <a:srgbClr val="1F5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64608" y="80467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whoami /groups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64608" y="1170432"/>
            <a:ext cx="3886200" cy="0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243584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BUILTIN\Users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PC-BABACAR-GL\Developers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130552"/>
            <a:ext cx="4114800" cy="1280160"/>
          </a:xfrm>
          <a:prstGeom prst="rect">
            <a:avLst/>
          </a:prstGeom>
          <a:solidFill>
            <a:srgbClr val="1F4A6A"/>
          </a:solidFill>
          <a:ln w="12700">
            <a:solidFill>
              <a:srgbClr val="1F4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" y="222199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user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" y="2587752"/>
            <a:ext cx="3886200" cy="0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660904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&gt;babacar  console  1  Actif  25/03/2026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2130552"/>
            <a:ext cx="4114800" cy="1280160"/>
          </a:xfrm>
          <a:prstGeom prst="rect">
            <a:avLst/>
          </a:prstGeom>
          <a:solidFill>
            <a:srgbClr val="1F4A6A"/>
          </a:solidFill>
          <a:ln w="12700">
            <a:solidFill>
              <a:srgbClr val="1F4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64608" y="222199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session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64608" y="2587752"/>
            <a:ext cx="3886200" cy="0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2660904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  1  Actif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rdp-tcp#3  2  Actif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547872"/>
            <a:ext cx="4114800" cy="1280160"/>
          </a:xfrm>
          <a:prstGeom prst="rect">
            <a:avLst/>
          </a:prstGeom>
          <a:solidFill>
            <a:srgbClr val="1F4A6A"/>
          </a:solidFill>
          <a:ln w="12700">
            <a:solidFill>
              <a:srgbClr val="1F4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" y="363931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session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" y="4005072"/>
            <a:ext cx="3886200" cy="0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4078224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 réseau actives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3547872"/>
            <a:ext cx="4114800" cy="1280160"/>
          </a:xfrm>
          <a:prstGeom prst="rect">
            <a:avLst/>
          </a:prstGeom>
          <a:solidFill>
            <a:srgbClr val="6A1F1F"/>
          </a:solidFill>
          <a:ln w="12700">
            <a:solidFill>
              <a:srgbClr val="6A1F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64608" y="363931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logoff 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64608" y="4005072"/>
            <a:ext cx="3886200" cy="0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4078224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ID 2 déconnectée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A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IV.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2103120" y="73152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GESTION DES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ATTRIBUTS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FICHIERS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890AA"/>
                </a:solidFill>
              </a:rPr>
              <a:t>R (ReadOnly)  •  H (Hidden)  •  S (System)  •  A (Archive)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8229600" cy="1554480"/>
          </a:xfrm>
          <a:prstGeom prst="rect">
            <a:avLst/>
          </a:prstGeom>
          <a:solidFill>
            <a:srgbClr val="0C0C0C"/>
          </a:solidFill>
          <a:ln w="1905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3474720"/>
            <a:ext cx="128016" cy="12801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3474720"/>
            <a:ext cx="128016" cy="12801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3474720"/>
            <a:ext cx="128016" cy="12801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43814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cmd.exe — Invite de commandes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57200" y="3675888"/>
            <a:ext cx="82296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712464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C:\&gt;attrib rapport.docx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94360" y="3913632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       R           C:\rapport.docx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94360" y="411480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C:\&gt;attrib +H confidentiel.txt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94360" y="4315968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C:\&gt;dir — (confidentiel.txt invisible !)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94360" y="4517136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C:\&gt;attrib -H -S -R C:\USB\* /s /d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94360" y="4718304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fichiers récupérés après virus ✓ )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IV.1 — Les Attributs Windows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4114800" cy="1261872"/>
          </a:xfrm>
          <a:prstGeom prst="rect">
            <a:avLst/>
          </a:prstGeom>
          <a:solidFill>
            <a:srgbClr val="1F5A8A"/>
          </a:solidFill>
          <a:ln w="12700">
            <a:solidFill>
              <a:srgbClr val="1F5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07899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A8A"/>
                </a:solidFill>
              </a:rPr>
              <a:t>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80467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17043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modifié depuis la dernière sauvegarde. Utilisé par les outils de backup.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54880" y="713232"/>
            <a:ext cx="4114800" cy="1261872"/>
          </a:xfrm>
          <a:prstGeom prst="rect">
            <a:avLst/>
          </a:prstGeom>
          <a:solidFill>
            <a:srgbClr val="8A1F1F"/>
          </a:solidFill>
          <a:ln w="12700">
            <a:solidFill>
              <a:srgbClr val="8A1F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107899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1F1F"/>
                </a:solidFill>
              </a:rPr>
              <a:t>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0" y="80467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Lecture seule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117043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Empêche la modification ou la suppression du fichier (Read-Only).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103120"/>
            <a:ext cx="4114800" cy="1261872"/>
          </a:xfrm>
          <a:prstGeom prst="rect">
            <a:avLst/>
          </a:prstGeom>
          <a:solidFill>
            <a:srgbClr val="6A3A00"/>
          </a:solidFill>
          <a:ln w="12700">
            <a:solidFill>
              <a:srgbClr val="6A3A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" y="246888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A3A00"/>
                </a:solidFill>
              </a:rPr>
              <a:t>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21945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Caché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256032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fichier n'apparaît pas dans l'explorateur ni dans dir (sauf /a).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0" y="2103120"/>
            <a:ext cx="4114800" cy="1261872"/>
          </a:xfrm>
          <a:prstGeom prst="rect">
            <a:avLst/>
          </a:prstGeom>
          <a:solidFill>
            <a:srgbClr val="4A1A6A"/>
          </a:solidFill>
          <a:ln w="12700">
            <a:solidFill>
              <a:srgbClr val="4A1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64608" y="246888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1A6A"/>
                </a:solidFill>
              </a:rPr>
              <a:t>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0" y="21945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Système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256032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système Windows. Généralement caché et protégé contre la modification.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493008"/>
            <a:ext cx="4114800" cy="1261872"/>
          </a:xfrm>
          <a:prstGeom prst="rect">
            <a:avLst/>
          </a:prstGeom>
          <a:solidFill>
            <a:srgbClr val="1F5A2F"/>
          </a:solidFill>
          <a:ln w="12700">
            <a:solidFill>
              <a:srgbClr val="1F5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" y="3858768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A2F"/>
                </a:solidFill>
              </a:rPr>
              <a:t>I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97280" y="358444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 indexé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" y="3950208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Exclut le fichier de l'indexation du service de recherche Windows.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3493008"/>
            <a:ext cx="4114800" cy="1261872"/>
          </a:xfrm>
          <a:prstGeom prst="rect">
            <a:avLst/>
          </a:prstGeom>
          <a:solidFill>
            <a:srgbClr val="004444"/>
          </a:solidFill>
          <a:ln w="12700">
            <a:solidFill>
              <a:srgbClr val="00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64608" y="3858768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444"/>
                </a:solidFill>
              </a:rPr>
              <a:t>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86400" y="358444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Chiffré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0" y="3950208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chiffré via EFS (Encrypting File System) sur partition NTFS.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IV.2 — La Commande ATTRIB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solidFill>
            <a:srgbClr val="0C0C0C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13232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attrib  [+|-][R|H|S|A|I]  [chemin]  [/s]  [/d]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140817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l'attribut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502920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3716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68112" y="140817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l'attribut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874520"/>
            <a:ext cx="502920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745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" y="191109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 récursivement aux sous-dossiers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1874520"/>
            <a:ext cx="502920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8745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68112" y="191109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 aussi aux dossiers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514600"/>
            <a:ext cx="8229600" cy="2468880"/>
          </a:xfrm>
          <a:prstGeom prst="rect">
            <a:avLst/>
          </a:prstGeom>
          <a:solidFill>
            <a:srgbClr val="0C0C0C"/>
          </a:solidFill>
          <a:ln w="1905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2606040"/>
            <a:ext cx="128016" cy="12801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" y="2606040"/>
            <a:ext cx="128016" cy="12801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6696" y="2606040"/>
            <a:ext cx="128016" cy="12801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256946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cmd.exe — Invite de commandes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57200" y="2807208"/>
            <a:ext cx="82296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2843784"/>
            <a:ext cx="7955280" cy="176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C:\&gt;attrib fichier.txt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94360" y="3020568"/>
            <a:ext cx="7955280" cy="176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                   C:\fichier.txt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94360" y="3197352"/>
            <a:ext cx="7955280" cy="176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94360" y="3374136"/>
            <a:ext cx="7955280" cy="176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C:\&gt;attrib +R rapport.docx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94360" y="3550920"/>
            <a:ext cx="7955280" cy="176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C:\&gt;del rapport.docx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94360" y="3727704"/>
            <a:ext cx="7955280" cy="176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Accès refusé - rapport.docx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94360" y="3904488"/>
            <a:ext cx="7955280" cy="176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94360" y="4081272"/>
            <a:ext cx="7955280" cy="176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C:\&gt;attrib -R rapport.docx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94360" y="4258056"/>
            <a:ext cx="7955280" cy="176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(fichier à nouveau modifiable)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94360" y="4434840"/>
            <a:ext cx="7955280" cy="176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94360" y="4611624"/>
            <a:ext cx="7955280" cy="176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C:\&gt;attrib +H confidentiel.txt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94360" y="4788408"/>
            <a:ext cx="7955280" cy="176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(fichier caché — invisible dans dir)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IV.3 — Cas Pratiques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3931920" cy="365760"/>
          </a:xfrm>
          <a:prstGeom prst="rect">
            <a:avLst/>
          </a:prstGeom>
          <a:solidFill>
            <a:srgbClr val="8A1F1F"/>
          </a:solidFill>
          <a:ln w="12700">
            <a:solidFill>
              <a:srgbClr val="8A1F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3152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⚠  Récupérer fichiers cachés par un virus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52144"/>
            <a:ext cx="3931920" cy="2560320"/>
          </a:xfrm>
          <a:prstGeom prst="rect">
            <a:avLst/>
          </a:prstGeom>
          <a:solidFill>
            <a:srgbClr val="0C0C0C"/>
          </a:solidFill>
          <a:ln w="1905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243584"/>
            <a:ext cx="128016" cy="12801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1243584"/>
            <a:ext cx="128016" cy="12801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6696" y="1243584"/>
            <a:ext cx="128016" cy="12801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207008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cmd.exe — Invite de commandes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57200" y="1444752"/>
            <a:ext cx="393192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481328"/>
            <a:ext cx="3657600" cy="3161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C:\&gt;attrib C:\USB\* /s /d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94360" y="1797449"/>
            <a:ext cx="3657600" cy="3161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SHR  C:\USB\document1.docx  ← virus!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94360" y="2113570"/>
            <a:ext cx="3657600" cy="3161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SHR  C:\USB\photo.jpg       ← virus!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94360" y="2429691"/>
            <a:ext cx="3657600" cy="3161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94360" y="2745813"/>
            <a:ext cx="3657600" cy="3161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C:\&gt;attrib -H -S -R C:\USB\* /s /d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94360" y="3061934"/>
            <a:ext cx="3657600" cy="3161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      C:\USB\document1.docx  ✓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94360" y="3378055"/>
            <a:ext cx="3657600" cy="3161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      C:\USB\photo.jpg       ✓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754880" y="713232"/>
            <a:ext cx="3931920" cy="365760"/>
          </a:xfrm>
          <a:prstGeom prst="rect">
            <a:avLst/>
          </a:prstGeom>
          <a:solidFill>
            <a:srgbClr val="1F5A8A"/>
          </a:solidFill>
          <a:ln w="12700">
            <a:solidFill>
              <a:srgbClr val="1F5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73152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🔒  Protéger un dossier sensible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152144"/>
            <a:ext cx="3931920" cy="2560320"/>
          </a:xfrm>
          <a:prstGeom prst="rect">
            <a:avLst/>
          </a:prstGeom>
          <a:solidFill>
            <a:srgbClr val="0C0C0C"/>
          </a:solidFill>
          <a:ln w="1905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92040" y="1243584"/>
            <a:ext cx="128016" cy="12801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93208" y="1243584"/>
            <a:ext cx="128016" cy="12801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94376" y="1243584"/>
            <a:ext cx="128016" cy="12801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0" y="1207008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cmd.exe — Invite de commandes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754880" y="1444752"/>
            <a:ext cx="393192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481328"/>
            <a:ext cx="3657600" cy="2766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C:\&gt;attrib +H +S +R SecretData /s /d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892040" y="1757934"/>
            <a:ext cx="3657600" cy="2766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892040" y="2034540"/>
            <a:ext cx="3657600" cy="2766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C:\&gt;dir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892040" y="2311146"/>
            <a:ext cx="3657600" cy="2766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25/03/2026  &lt;REP&gt;  Users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892040" y="2587752"/>
            <a:ext cx="3657600" cy="2766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C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25/03/2026  &lt;REP&gt;  Windows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892040" y="2864358"/>
            <a:ext cx="3657600" cy="2766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(SecretData invisible !)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892040" y="3140964"/>
            <a:ext cx="3657600" cy="2766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C:\&gt;dir /a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892040" y="3417570"/>
            <a:ext cx="3657600" cy="2766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25/03/2026  &lt;REP&gt;  SecretData [SHR]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39776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Légende :  </a:t>
            </a:r>
            <a:pPr indent="0" marL="0">
              <a:buNone/>
            </a:pPr>
            <a:r>
              <a:rPr lang="en-US" sz="1000" b="1" dirty="0">
                <a:solidFill>
                  <a:srgbClr val="1F5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= Archive   </a:t>
            </a:r>
            <a:pPr indent="0" marL="0">
              <a:buNone/>
            </a:pPr>
            <a:r>
              <a:rPr lang="en-US" sz="1000" b="1" dirty="0">
                <a:solidFill>
                  <a:srgbClr val="8A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= ReadOnly   </a:t>
            </a:r>
            <a:pPr indent="0" marL="0">
              <a:buNone/>
            </a:pPr>
            <a:r>
              <a:rPr lang="en-US" sz="1000" b="1" dirty="0">
                <a:solidFill>
                  <a:srgbClr val="6A3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= Hidden   </a:t>
            </a:r>
            <a:pPr indent="0" marL="0">
              <a:buNone/>
            </a:pPr>
            <a:r>
              <a:rPr lang="en-US" sz="1000" b="1" dirty="0">
                <a:solidFill>
                  <a:srgbClr val="4A1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= System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62B52"/>
          </a:solidFill>
          <a:ln w="12700">
            <a:solidFill>
              <a:srgbClr val="162B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V. CONCLUSION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8229600" cy="749808"/>
          </a:xfrm>
          <a:prstGeom prst="rect">
            <a:avLst/>
          </a:prstGeom>
          <a:solidFill>
            <a:srgbClr val="1A3260"/>
          </a:solidFill>
          <a:ln w="12700">
            <a:solidFill>
              <a:srgbClr val="2E57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418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🖥  Commandes de base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2618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fichiers, dossiers et système rapidement en ligne de commande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8229600" cy="749808"/>
          </a:xfrm>
          <a:prstGeom prst="rect">
            <a:avLst/>
          </a:prstGeom>
          <a:solidFill>
            <a:srgbClr val="1A3260"/>
          </a:solidFill>
          <a:ln w="12700">
            <a:solidFill>
              <a:srgbClr val="2E57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1051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👤  Utilisateurs &amp; Groupes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1305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Contrôler les accès et sécuriser les comptes avec net user / net localgroup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633472"/>
            <a:ext cx="8229600" cy="749808"/>
          </a:xfrm>
          <a:prstGeom prst="rect">
            <a:avLst/>
          </a:prstGeom>
          <a:solidFill>
            <a:srgbClr val="1A3260"/>
          </a:solidFill>
          <a:ln w="12700">
            <a:solidFill>
              <a:srgbClr val="2E57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791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📁  Attributs de fichiers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9992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Protéger, cacher et récupérer des fichiers avec attrib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502152"/>
            <a:ext cx="8229600" cy="749808"/>
          </a:xfrm>
          <a:prstGeom prst="rect">
            <a:avLst/>
          </a:prstGeom>
          <a:solidFill>
            <a:srgbClr val="1A3260"/>
          </a:solidFill>
          <a:ln w="12700">
            <a:solidFill>
              <a:srgbClr val="2E579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5478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Perspectives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86791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PowerShell, Active Directory, scripts .bat — bases indispensables pour l'admin système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49884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Maîtriser CMD = base essentielle de tout ingénieur logiciel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Exposé CMD Windows</dc:title>
  <dc:subject>PptxGenJS Presentation</dc:subject>
  <dc:creator>PptxGenJS</dc:creator>
  <cp:lastModifiedBy>PptxGenJS</cp:lastModifiedBy>
  <cp:revision>1</cp:revision>
  <dcterms:created xsi:type="dcterms:W3CDTF">2026-03-24T11:25:41Z</dcterms:created>
  <dcterms:modified xsi:type="dcterms:W3CDTF">2026-03-24T11:25:41Z</dcterms:modified>
</cp:coreProperties>
</file>